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0287000" cx="18288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he9HZcxL2rWk3YTIYTDUR06FS8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13.png"/><Relationship Id="rId13" Type="http://schemas.openxmlformats.org/officeDocument/2006/relationships/image" Target="../media/image17.png"/><Relationship Id="rId1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6.png"/><Relationship Id="rId15" Type="http://schemas.openxmlformats.org/officeDocument/2006/relationships/image" Target="../media/image1.png"/><Relationship Id="rId1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8.png"/><Relationship Id="rId7" Type="http://schemas.openxmlformats.org/officeDocument/2006/relationships/image" Target="../media/image10.png"/><Relationship Id="rId8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028700" y="1096998"/>
            <a:ext cx="413096" cy="360426"/>
          </a:xfrm>
          <a:custGeom>
            <a:rect b="b" l="l" r="r" t="t"/>
            <a:pathLst>
              <a:path extrusionOk="0" h="360426" w="413096">
                <a:moveTo>
                  <a:pt x="0" y="0"/>
                </a:moveTo>
                <a:lnTo>
                  <a:pt x="413096" y="0"/>
                </a:lnTo>
                <a:lnTo>
                  <a:pt x="413096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658659" y="1091256"/>
            <a:ext cx="396617" cy="360426"/>
          </a:xfrm>
          <a:custGeom>
            <a:rect b="b" l="l" r="r" t="t"/>
            <a:pathLst>
              <a:path extrusionOk="0" h="360426" w="396617">
                <a:moveTo>
                  <a:pt x="0" y="0"/>
                </a:moveTo>
                <a:lnTo>
                  <a:pt x="396617" y="0"/>
                </a:lnTo>
                <a:lnTo>
                  <a:pt x="396617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14624885" y="605718"/>
            <a:ext cx="3441211" cy="845964"/>
          </a:xfrm>
          <a:custGeom>
            <a:rect b="b" l="l" r="r" t="t"/>
            <a:pathLst>
              <a:path extrusionOk="0" h="845964" w="3441211">
                <a:moveTo>
                  <a:pt x="0" y="0"/>
                </a:moveTo>
                <a:lnTo>
                  <a:pt x="3441211" y="0"/>
                </a:lnTo>
                <a:lnTo>
                  <a:pt x="3441211" y="845964"/>
                </a:lnTo>
                <a:lnTo>
                  <a:pt x="0" y="8459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"/>
          <p:cNvGrpSpPr/>
          <p:nvPr/>
        </p:nvGrpSpPr>
        <p:grpSpPr>
          <a:xfrm>
            <a:off x="4722264" y="8199991"/>
            <a:ext cx="8843472" cy="697883"/>
            <a:chOff x="0" y="0"/>
            <a:chExt cx="11791297" cy="930511"/>
          </a:xfrm>
        </p:grpSpPr>
        <p:grpSp>
          <p:nvGrpSpPr>
            <p:cNvPr id="88" name="Google Shape;88;p1"/>
            <p:cNvGrpSpPr/>
            <p:nvPr/>
          </p:nvGrpSpPr>
          <p:grpSpPr>
            <a:xfrm>
              <a:off x="0" y="0"/>
              <a:ext cx="11791297" cy="930511"/>
              <a:chOff x="0" y="0"/>
              <a:chExt cx="2609622" cy="205938"/>
            </a:xfrm>
          </p:grpSpPr>
          <p:sp>
            <p:nvSpPr>
              <p:cNvPr id="89" name="Google Shape;89;p1"/>
              <p:cNvSpPr/>
              <p:nvPr/>
            </p:nvSpPr>
            <p:spPr>
              <a:xfrm>
                <a:off x="0" y="0"/>
                <a:ext cx="2609622" cy="205938"/>
              </a:xfrm>
              <a:custGeom>
                <a:rect b="b" l="l" r="r" t="t"/>
                <a:pathLst>
                  <a:path extrusionOk="0" h="205938" w="2609622">
                    <a:moveTo>
                      <a:pt x="44647" y="0"/>
                    </a:moveTo>
                    <a:lnTo>
                      <a:pt x="2564975" y="0"/>
                    </a:lnTo>
                    <a:cubicBezTo>
                      <a:pt x="2589633" y="0"/>
                      <a:pt x="2609622" y="19989"/>
                      <a:pt x="2609622" y="44647"/>
                    </a:cubicBezTo>
                    <a:lnTo>
                      <a:pt x="2609622" y="161291"/>
                    </a:lnTo>
                    <a:cubicBezTo>
                      <a:pt x="2609622" y="185949"/>
                      <a:pt x="2589633" y="205938"/>
                      <a:pt x="2564975" y="205938"/>
                    </a:cubicBezTo>
                    <a:lnTo>
                      <a:pt x="44647" y="205938"/>
                    </a:lnTo>
                    <a:cubicBezTo>
                      <a:pt x="32806" y="205938"/>
                      <a:pt x="21450" y="201235"/>
                      <a:pt x="13077" y="192862"/>
                    </a:cubicBezTo>
                    <a:cubicBezTo>
                      <a:pt x="4704" y="184489"/>
                      <a:pt x="0" y="173132"/>
                      <a:pt x="0" y="161291"/>
                    </a:cubicBezTo>
                    <a:lnTo>
                      <a:pt x="0" y="44647"/>
                    </a:lnTo>
                    <a:cubicBezTo>
                      <a:pt x="0" y="19989"/>
                      <a:pt x="19989" y="0"/>
                      <a:pt x="44647" y="0"/>
                    </a:cubicBezTo>
                    <a:close/>
                  </a:path>
                </a:pathLst>
              </a:custGeom>
              <a:noFill/>
              <a:ln cap="rnd" cmpd="sng" w="19050">
                <a:solidFill>
                  <a:srgbClr val="22335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1"/>
              <p:cNvSpPr txBox="1"/>
              <p:nvPr/>
            </p:nvSpPr>
            <p:spPr>
              <a:xfrm>
                <a:off x="0" y="85725"/>
                <a:ext cx="2609622" cy="120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1" name="Google Shape;91;p1"/>
            <p:cNvSpPr txBox="1"/>
            <p:nvPr/>
          </p:nvSpPr>
          <p:spPr>
            <a:xfrm>
              <a:off x="752748" y="293512"/>
              <a:ext cx="10285800" cy="34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82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16" u="none" cap="none" strike="noStrike">
                  <a:solidFill>
                    <a:srgbClr val="22335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Plataforma Web de Gestión de Convivencia Escolar · Fase 1</a:t>
              </a:r>
              <a:endParaRPr/>
            </a:p>
          </p:txBody>
        </p:sp>
      </p:grpSp>
      <p:sp>
        <p:nvSpPr>
          <p:cNvPr id="92" name="Google Shape;92;p1"/>
          <p:cNvSpPr txBox="1"/>
          <p:nvPr/>
        </p:nvSpPr>
        <p:spPr>
          <a:xfrm>
            <a:off x="17041742" y="10021824"/>
            <a:ext cx="12462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82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1 /10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3663115" y="4531558"/>
            <a:ext cx="10961770" cy="1811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82" u="none" cap="none" strike="noStrike">
                <a:solidFill>
                  <a:srgbClr val="6F8CF3"/>
                </a:solidFill>
                <a:latin typeface="Arial"/>
                <a:ea typeface="Arial"/>
                <a:cs typeface="Arial"/>
                <a:sym typeface="Arial"/>
              </a:rPr>
              <a:t>CONVI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7735205" y="1019605"/>
            <a:ext cx="2817600" cy="7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3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19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Proyecto</a:t>
            </a:r>
            <a:r>
              <a:rPr b="1" i="0" lang="en-US" sz="2019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 de Título  Ingeniería Informática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>
            <a:off x="-73738" y="2669491"/>
            <a:ext cx="9490850" cy="6038553"/>
          </a:xfrm>
          <a:custGeom>
            <a:rect b="b" l="l" r="r" t="t"/>
            <a:pathLst>
              <a:path extrusionOk="0" h="6038553" w="9490850">
                <a:moveTo>
                  <a:pt x="0" y="0"/>
                </a:moveTo>
                <a:lnTo>
                  <a:pt x="9490850" y="0"/>
                </a:lnTo>
                <a:lnTo>
                  <a:pt x="9490850" y="6038554"/>
                </a:lnTo>
                <a:lnTo>
                  <a:pt x="0" y="60385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0" name="Google Shape;100;p2"/>
          <p:cNvCxnSpPr/>
          <p:nvPr/>
        </p:nvCxnSpPr>
        <p:spPr>
          <a:xfrm>
            <a:off x="8219854" y="9078087"/>
            <a:ext cx="1848291" cy="0"/>
          </a:xfrm>
          <a:prstGeom prst="straightConnector1">
            <a:avLst/>
          </a:prstGeom>
          <a:noFill/>
          <a:ln cap="flat" cmpd="sng" w="38100">
            <a:solidFill>
              <a:srgbClr val="22335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01" name="Google Shape;101;p2"/>
          <p:cNvSpPr/>
          <p:nvPr/>
        </p:nvSpPr>
        <p:spPr>
          <a:xfrm>
            <a:off x="1028700" y="1028700"/>
            <a:ext cx="413096" cy="360426"/>
          </a:xfrm>
          <a:custGeom>
            <a:rect b="b" l="l" r="r" t="t"/>
            <a:pathLst>
              <a:path extrusionOk="0" h="360426" w="413096">
                <a:moveTo>
                  <a:pt x="0" y="0"/>
                </a:moveTo>
                <a:lnTo>
                  <a:pt x="413096" y="0"/>
                </a:lnTo>
                <a:lnTo>
                  <a:pt x="413096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2"/>
          <p:cNvSpPr/>
          <p:nvPr/>
        </p:nvSpPr>
        <p:spPr>
          <a:xfrm>
            <a:off x="1658659" y="1028700"/>
            <a:ext cx="396617" cy="360426"/>
          </a:xfrm>
          <a:custGeom>
            <a:rect b="b" l="l" r="r" t="t"/>
            <a:pathLst>
              <a:path extrusionOk="0" h="360426" w="396617">
                <a:moveTo>
                  <a:pt x="0" y="0"/>
                </a:moveTo>
                <a:lnTo>
                  <a:pt x="396617" y="0"/>
                </a:lnTo>
                <a:lnTo>
                  <a:pt x="396617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2"/>
          <p:cNvSpPr txBox="1"/>
          <p:nvPr/>
        </p:nvSpPr>
        <p:spPr>
          <a:xfrm>
            <a:off x="14292804" y="10021824"/>
            <a:ext cx="3995196" cy="265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82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2 / 10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10469275" y="2758550"/>
            <a:ext cx="67377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99" u="none" cap="none" strike="noStrike">
                <a:solidFill>
                  <a:srgbClr val="6F8CF3"/>
                </a:solidFill>
                <a:latin typeface="Arial"/>
                <a:ea typeface="Arial"/>
                <a:cs typeface="Arial"/>
                <a:sym typeface="Arial"/>
              </a:rPr>
              <a:t>INTRODUCCIÓN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10469268" y="3919001"/>
            <a:ext cx="7266846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Convi es una plataforma web de gestión de convivencia escolar diseñada para establecimientos educacionales chilenos. Centraliza procesos, facilita el registro y el seguimiento de situaciones de convivencia en la comunidad educativa.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10469268" y="5919251"/>
            <a:ext cx="7266846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El proyecto busca reemplazar registros manuales y dispersos por una solución profesional, accesible y orientada a directivos, docentes y equipos de convivencia escolar.</a:t>
            </a: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14624885" y="605718"/>
            <a:ext cx="3441211" cy="845964"/>
          </a:xfrm>
          <a:custGeom>
            <a:rect b="b" l="l" r="r" t="t"/>
            <a:pathLst>
              <a:path extrusionOk="0" h="845964" w="3441211">
                <a:moveTo>
                  <a:pt x="0" y="0"/>
                </a:moveTo>
                <a:lnTo>
                  <a:pt x="3441211" y="0"/>
                </a:lnTo>
                <a:lnTo>
                  <a:pt x="3441211" y="845964"/>
                </a:lnTo>
                <a:lnTo>
                  <a:pt x="0" y="8459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/>
          <p:nvPr/>
        </p:nvSpPr>
        <p:spPr>
          <a:xfrm>
            <a:off x="10433819" y="4129977"/>
            <a:ext cx="7315200" cy="4023360"/>
          </a:xfrm>
          <a:custGeom>
            <a:rect b="b" l="l" r="r" t="t"/>
            <a:pathLst>
              <a:path extrusionOk="0" h="4023360" w="7315200">
                <a:moveTo>
                  <a:pt x="0" y="0"/>
                </a:moveTo>
                <a:lnTo>
                  <a:pt x="7315200" y="0"/>
                </a:lnTo>
                <a:lnTo>
                  <a:pt x="7315200" y="4023360"/>
                </a:lnTo>
                <a:lnTo>
                  <a:pt x="0" y="40233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13" name="Google Shape;113;p3"/>
          <p:cNvCxnSpPr/>
          <p:nvPr/>
        </p:nvCxnSpPr>
        <p:spPr>
          <a:xfrm>
            <a:off x="8219854" y="9078087"/>
            <a:ext cx="1848291" cy="0"/>
          </a:xfrm>
          <a:prstGeom prst="straightConnector1">
            <a:avLst/>
          </a:prstGeom>
          <a:noFill/>
          <a:ln cap="flat" cmpd="sng" w="38100">
            <a:solidFill>
              <a:srgbClr val="22335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14" name="Google Shape;114;p3"/>
          <p:cNvSpPr/>
          <p:nvPr/>
        </p:nvSpPr>
        <p:spPr>
          <a:xfrm>
            <a:off x="1028700" y="1028700"/>
            <a:ext cx="413096" cy="360426"/>
          </a:xfrm>
          <a:custGeom>
            <a:rect b="b" l="l" r="r" t="t"/>
            <a:pathLst>
              <a:path extrusionOk="0" h="360426" w="413096">
                <a:moveTo>
                  <a:pt x="0" y="0"/>
                </a:moveTo>
                <a:lnTo>
                  <a:pt x="413096" y="0"/>
                </a:lnTo>
                <a:lnTo>
                  <a:pt x="413096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3"/>
          <p:cNvSpPr/>
          <p:nvPr/>
        </p:nvSpPr>
        <p:spPr>
          <a:xfrm>
            <a:off x="1658659" y="1028700"/>
            <a:ext cx="396617" cy="360426"/>
          </a:xfrm>
          <a:custGeom>
            <a:rect b="b" l="l" r="r" t="t"/>
            <a:pathLst>
              <a:path extrusionOk="0" h="360426" w="396617">
                <a:moveTo>
                  <a:pt x="0" y="0"/>
                </a:moveTo>
                <a:lnTo>
                  <a:pt x="396617" y="0"/>
                </a:lnTo>
                <a:lnTo>
                  <a:pt x="396617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6" name="Google Shape;116;p3"/>
          <p:cNvGrpSpPr/>
          <p:nvPr/>
        </p:nvGrpSpPr>
        <p:grpSpPr>
          <a:xfrm>
            <a:off x="2727329" y="5874489"/>
            <a:ext cx="5887298" cy="2076783"/>
            <a:chOff x="0" y="0"/>
            <a:chExt cx="1550564" cy="546972"/>
          </a:xfrm>
        </p:grpSpPr>
        <p:sp>
          <p:nvSpPr>
            <p:cNvPr id="117" name="Google Shape;117;p3"/>
            <p:cNvSpPr/>
            <p:nvPr/>
          </p:nvSpPr>
          <p:spPr>
            <a:xfrm>
              <a:off x="0" y="0"/>
              <a:ext cx="1550564" cy="546972"/>
            </a:xfrm>
            <a:custGeom>
              <a:rect b="b" l="l" r="r" t="t"/>
              <a:pathLst>
                <a:path extrusionOk="0" h="546972" w="1550564">
                  <a:moveTo>
                    <a:pt x="67066" y="0"/>
                  </a:moveTo>
                  <a:lnTo>
                    <a:pt x="1483498" y="0"/>
                  </a:lnTo>
                  <a:cubicBezTo>
                    <a:pt x="1501285" y="0"/>
                    <a:pt x="1518344" y="7066"/>
                    <a:pt x="1530921" y="19643"/>
                  </a:cubicBezTo>
                  <a:cubicBezTo>
                    <a:pt x="1543498" y="32221"/>
                    <a:pt x="1550564" y="49279"/>
                    <a:pt x="1550564" y="67066"/>
                  </a:cubicBezTo>
                  <a:lnTo>
                    <a:pt x="1550564" y="479905"/>
                  </a:lnTo>
                  <a:cubicBezTo>
                    <a:pt x="1550564" y="516945"/>
                    <a:pt x="1520538" y="546972"/>
                    <a:pt x="1483498" y="546972"/>
                  </a:cubicBezTo>
                  <a:lnTo>
                    <a:pt x="67066" y="546972"/>
                  </a:lnTo>
                  <a:cubicBezTo>
                    <a:pt x="30026" y="546972"/>
                    <a:pt x="0" y="516945"/>
                    <a:pt x="0" y="479905"/>
                  </a:cubicBezTo>
                  <a:lnTo>
                    <a:pt x="0" y="67066"/>
                  </a:lnTo>
                  <a:cubicBezTo>
                    <a:pt x="0" y="30026"/>
                    <a:pt x="30026" y="0"/>
                    <a:pt x="67066" y="0"/>
                  </a:cubicBezTo>
                  <a:close/>
                </a:path>
              </a:pathLst>
            </a:custGeom>
            <a:solidFill>
              <a:srgbClr val="D5E3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3"/>
            <p:cNvSpPr txBox="1"/>
            <p:nvPr/>
          </p:nvSpPr>
          <p:spPr>
            <a:xfrm>
              <a:off x="0" y="95250"/>
              <a:ext cx="1550564" cy="4517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0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9" name="Google Shape;119;p3"/>
          <p:cNvSpPr txBox="1"/>
          <p:nvPr/>
        </p:nvSpPr>
        <p:spPr>
          <a:xfrm>
            <a:off x="14292804" y="10021903"/>
            <a:ext cx="3995196" cy="265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8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8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3 / 10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968427" y="1946600"/>
            <a:ext cx="8165100" cy="10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93" u="none" cap="none" strike="noStrike">
                <a:solidFill>
                  <a:srgbClr val="6F8CF3"/>
                </a:solidFill>
                <a:latin typeface="Arial"/>
                <a:ea typeface="Arial"/>
                <a:cs typeface="Arial"/>
                <a:sym typeface="Arial"/>
              </a:rPr>
              <a:t>PROBLEMAS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968418" y="3150814"/>
            <a:ext cx="9405119" cy="18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9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El encargado de convivencia escolar gestiona situaciones de comportamiento, conflictos y necesidades de acompañamiento de los estudiantes.</a:t>
            </a:r>
            <a:endParaRPr/>
          </a:p>
          <a:p>
            <a:pPr indent="0" lvl="0" marL="0" marR="0" rtl="0" algn="just">
              <a:lnSpc>
                <a:spcPct val="12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99" u="none" cap="none" strike="noStrike">
              <a:solidFill>
                <a:srgbClr val="22335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2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9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Esa información está distribuida entre anotaciones, observaciones de docentes y otros mecanismos de seguimiento, lo que dificulta visualizar la evolución de cada estudiante y reconocer cambios importantes a lo largo del tiempo.</a:t>
            </a:r>
            <a:endParaRPr/>
          </a:p>
          <a:p>
            <a:pPr indent="0" lvl="0" marL="0" marR="0" rtl="0" algn="just">
              <a:lnSpc>
                <a:spcPct val="12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99" u="none" cap="none" strike="noStrike">
              <a:solidFill>
                <a:srgbClr val="22335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2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9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El problema no es la ausencia de un sistema, sino la dispersión de la información y la pérdida de la relación entre la situación, la intervención realizada y el seguimiento posterior.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4220298" y="5845925"/>
            <a:ext cx="34413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La información hoy vive dispersa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22335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3216478" y="6691100"/>
            <a:ext cx="1355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Anotaciones</a:t>
            </a:r>
            <a:endParaRPr/>
          </a:p>
        </p:txBody>
      </p:sp>
      <p:sp>
        <p:nvSpPr>
          <p:cNvPr id="124" name="Google Shape;124;p3"/>
          <p:cNvSpPr txBox="1"/>
          <p:nvPr/>
        </p:nvSpPr>
        <p:spPr>
          <a:xfrm>
            <a:off x="3216463" y="7368764"/>
            <a:ext cx="2088589" cy="240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Observaciones docentes</a:t>
            </a: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5573000" y="6654288"/>
            <a:ext cx="2088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Otros mecanismos de seguimiento</a:t>
            </a:r>
            <a:endParaRPr/>
          </a:p>
        </p:txBody>
      </p:sp>
      <p:sp>
        <p:nvSpPr>
          <p:cNvPr id="126" name="Google Shape;126;p3"/>
          <p:cNvSpPr txBox="1"/>
          <p:nvPr/>
        </p:nvSpPr>
        <p:spPr>
          <a:xfrm>
            <a:off x="5573000" y="7368775"/>
            <a:ext cx="15579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Memoria del profesional</a:t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14624885" y="605718"/>
            <a:ext cx="3441211" cy="845964"/>
          </a:xfrm>
          <a:custGeom>
            <a:rect b="b" l="l" r="r" t="t"/>
            <a:pathLst>
              <a:path extrusionOk="0" h="845964" w="3441211">
                <a:moveTo>
                  <a:pt x="0" y="0"/>
                </a:moveTo>
                <a:lnTo>
                  <a:pt x="3441211" y="0"/>
                </a:lnTo>
                <a:lnTo>
                  <a:pt x="3441211" y="845964"/>
                </a:lnTo>
                <a:lnTo>
                  <a:pt x="0" y="8459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"/>
          <p:cNvSpPr/>
          <p:nvPr/>
        </p:nvSpPr>
        <p:spPr>
          <a:xfrm>
            <a:off x="7484187" y="3600530"/>
            <a:ext cx="8726226" cy="6686470"/>
          </a:xfrm>
          <a:custGeom>
            <a:rect b="b" l="l" r="r" t="t"/>
            <a:pathLst>
              <a:path extrusionOk="0" h="6686470" w="8726226">
                <a:moveTo>
                  <a:pt x="0" y="0"/>
                </a:moveTo>
                <a:lnTo>
                  <a:pt x="8726226" y="0"/>
                </a:lnTo>
                <a:lnTo>
                  <a:pt x="8726226" y="6686470"/>
                </a:lnTo>
                <a:lnTo>
                  <a:pt x="0" y="66864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3" name="Google Shape;133;p4"/>
          <p:cNvSpPr/>
          <p:nvPr/>
        </p:nvSpPr>
        <p:spPr>
          <a:xfrm>
            <a:off x="1028700" y="1028700"/>
            <a:ext cx="413096" cy="360426"/>
          </a:xfrm>
          <a:custGeom>
            <a:rect b="b" l="l" r="r" t="t"/>
            <a:pathLst>
              <a:path extrusionOk="0" h="360426" w="413096">
                <a:moveTo>
                  <a:pt x="0" y="0"/>
                </a:moveTo>
                <a:lnTo>
                  <a:pt x="413096" y="0"/>
                </a:lnTo>
                <a:lnTo>
                  <a:pt x="413096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p4"/>
          <p:cNvSpPr/>
          <p:nvPr/>
        </p:nvSpPr>
        <p:spPr>
          <a:xfrm>
            <a:off x="1658659" y="1028700"/>
            <a:ext cx="396617" cy="360426"/>
          </a:xfrm>
          <a:custGeom>
            <a:rect b="b" l="l" r="r" t="t"/>
            <a:pathLst>
              <a:path extrusionOk="0" h="360426" w="396617">
                <a:moveTo>
                  <a:pt x="0" y="0"/>
                </a:moveTo>
                <a:lnTo>
                  <a:pt x="396617" y="0"/>
                </a:lnTo>
                <a:lnTo>
                  <a:pt x="396617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4"/>
          <p:cNvSpPr txBox="1"/>
          <p:nvPr/>
        </p:nvSpPr>
        <p:spPr>
          <a:xfrm>
            <a:off x="14292804" y="10021903"/>
            <a:ext cx="3995196" cy="265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8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8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4 / 10</a:t>
            </a:r>
            <a:endParaRPr/>
          </a:p>
        </p:txBody>
      </p:sp>
      <p:sp>
        <p:nvSpPr>
          <p:cNvPr id="136" name="Google Shape;136;p4"/>
          <p:cNvSpPr txBox="1"/>
          <p:nvPr/>
        </p:nvSpPr>
        <p:spPr>
          <a:xfrm>
            <a:off x="3959772" y="2045925"/>
            <a:ext cx="13693800" cy="8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7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73" u="none" cap="none" strike="noStrike">
                <a:solidFill>
                  <a:srgbClr val="6F8CF3"/>
                </a:solidFill>
                <a:latin typeface="Arial"/>
                <a:ea typeface="Arial"/>
                <a:cs typeface="Arial"/>
                <a:sym typeface="Arial"/>
              </a:rPr>
              <a:t>PROPUESTA DE SOLUCION</a:t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6805415" y="2941433"/>
            <a:ext cx="940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9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Convi centraliza los registros de convivencia escolar y los convierte en casos con seguimiento trazable.</a:t>
            </a:r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444268" y="4450506"/>
            <a:ext cx="6815789" cy="3829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898" lvl="1" marL="431796" marR="0" rtl="0" algn="l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Clr>
                <a:srgbClr val="22335A"/>
              </a:buClr>
              <a:buSzPts val="1999"/>
              <a:buFont typeface="Arial"/>
              <a:buChar char="•"/>
            </a:pPr>
            <a:r>
              <a:rPr b="0" i="0" lang="en-US" sz="1999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Registro rápido del profesor, desde su curso, en menos de un minuto</a:t>
            </a:r>
            <a:endParaRPr/>
          </a:p>
          <a:p>
            <a:pPr indent="-215898" lvl="1" marL="431796" marR="0" rtl="0" algn="l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Clr>
                <a:srgbClr val="22335A"/>
              </a:buClr>
              <a:buSzPts val="1999"/>
              <a:buFont typeface="Arial"/>
              <a:buChar char="•"/>
            </a:pPr>
            <a:r>
              <a:rPr b="0" i="0" lang="en-US" sz="1999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Bandeja única donde el encargado revisa todo lo recibido</a:t>
            </a:r>
            <a:endParaRPr/>
          </a:p>
          <a:p>
            <a:pPr indent="-215898" lvl="1" marL="431796" marR="0" rtl="0" algn="l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Clr>
                <a:srgbClr val="22335A"/>
              </a:buClr>
              <a:buSzPts val="1999"/>
              <a:buFont typeface="Arial"/>
              <a:buChar char="•"/>
            </a:pPr>
            <a:r>
              <a:rPr b="0" i="0" lang="en-US" sz="1999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El registro no crea un caso: el encargado decide si corresponde</a:t>
            </a:r>
            <a:endParaRPr/>
          </a:p>
          <a:p>
            <a:pPr indent="-215898" lvl="1" marL="431796" marR="0" rtl="0" algn="l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Clr>
                <a:srgbClr val="22335A"/>
              </a:buClr>
              <a:buSzPts val="1999"/>
              <a:buFont typeface="Arial"/>
              <a:buChar char="•"/>
            </a:pPr>
            <a:r>
              <a:rPr b="0" i="0" lang="en-US" sz="1999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Caso con intervenciones, seguimientos y estados trazables</a:t>
            </a:r>
            <a:endParaRPr/>
          </a:p>
          <a:p>
            <a:pPr indent="-215898" lvl="1" marL="431796" marR="0" rtl="0" algn="l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Clr>
                <a:srgbClr val="22335A"/>
              </a:buClr>
              <a:buSzPts val="1999"/>
              <a:buFont typeface="Arial"/>
              <a:buChar char="•"/>
            </a:pPr>
            <a:r>
              <a:rPr b="0" i="0" lang="en-US" sz="1999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Notificaciones automáticas cuando se superan umbrales configurados</a:t>
            </a:r>
            <a:endParaRPr/>
          </a:p>
          <a:p>
            <a:pPr indent="-215898" lvl="1" marL="431796" marR="0" rtl="0" algn="l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Clr>
                <a:srgbClr val="22335A"/>
              </a:buClr>
              <a:buSzPts val="1999"/>
              <a:buFont typeface="Arial"/>
              <a:buChar char="•"/>
            </a:pPr>
            <a:r>
              <a:rPr b="0" i="0" lang="en-US" sz="1999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Ficha del estudiante con su historial consolidado e informes en PDF</a:t>
            </a:r>
            <a:endParaRPr/>
          </a:p>
          <a:p>
            <a:pPr indent="0" lvl="0" marL="0" marR="0" rtl="0" algn="l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99" u="none" cap="none" strike="noStrike">
              <a:solidFill>
                <a:srgbClr val="22335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14624885" y="605718"/>
            <a:ext cx="3441211" cy="845964"/>
          </a:xfrm>
          <a:custGeom>
            <a:rect b="b" l="l" r="r" t="t"/>
            <a:pathLst>
              <a:path extrusionOk="0" h="845964" w="3441211">
                <a:moveTo>
                  <a:pt x="0" y="0"/>
                </a:moveTo>
                <a:lnTo>
                  <a:pt x="3441211" y="0"/>
                </a:lnTo>
                <a:lnTo>
                  <a:pt x="3441211" y="845964"/>
                </a:lnTo>
                <a:lnTo>
                  <a:pt x="0" y="8459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/>
          <p:nvPr/>
        </p:nvSpPr>
        <p:spPr>
          <a:xfrm flipH="1">
            <a:off x="1028703" y="4454900"/>
            <a:ext cx="2936098" cy="5832101"/>
          </a:xfrm>
          <a:custGeom>
            <a:rect b="b" l="l" r="r" t="t"/>
            <a:pathLst>
              <a:path extrusionOk="0" h="7382406" w="3165604">
                <a:moveTo>
                  <a:pt x="3165603" y="0"/>
                </a:moveTo>
                <a:lnTo>
                  <a:pt x="0" y="0"/>
                </a:lnTo>
                <a:lnTo>
                  <a:pt x="0" y="7382406"/>
                </a:lnTo>
                <a:lnTo>
                  <a:pt x="3165603" y="7382406"/>
                </a:lnTo>
                <a:lnTo>
                  <a:pt x="3165603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23" l="-111" r="-111" t="0"/>
            </a:stretch>
          </a:blipFill>
          <a:ln>
            <a:noFill/>
          </a:ln>
        </p:spPr>
      </p:sp>
      <p:sp>
        <p:nvSpPr>
          <p:cNvPr id="145" name="Google Shape;145;p5"/>
          <p:cNvSpPr/>
          <p:nvPr/>
        </p:nvSpPr>
        <p:spPr>
          <a:xfrm>
            <a:off x="1028700" y="1028700"/>
            <a:ext cx="413096" cy="360426"/>
          </a:xfrm>
          <a:custGeom>
            <a:rect b="b" l="l" r="r" t="t"/>
            <a:pathLst>
              <a:path extrusionOk="0" h="360426" w="413096">
                <a:moveTo>
                  <a:pt x="0" y="0"/>
                </a:moveTo>
                <a:lnTo>
                  <a:pt x="413096" y="0"/>
                </a:lnTo>
                <a:lnTo>
                  <a:pt x="413096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6" name="Google Shape;146;p5"/>
          <p:cNvSpPr/>
          <p:nvPr/>
        </p:nvSpPr>
        <p:spPr>
          <a:xfrm>
            <a:off x="1658659" y="1028700"/>
            <a:ext cx="396617" cy="360426"/>
          </a:xfrm>
          <a:custGeom>
            <a:rect b="b" l="l" r="r" t="t"/>
            <a:pathLst>
              <a:path extrusionOk="0" h="360426" w="396617">
                <a:moveTo>
                  <a:pt x="0" y="0"/>
                </a:moveTo>
                <a:lnTo>
                  <a:pt x="396617" y="0"/>
                </a:lnTo>
                <a:lnTo>
                  <a:pt x="396617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5"/>
          <p:cNvSpPr txBox="1"/>
          <p:nvPr/>
        </p:nvSpPr>
        <p:spPr>
          <a:xfrm>
            <a:off x="14292804" y="10021903"/>
            <a:ext cx="3995196" cy="265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8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8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5 / 10</a:t>
            </a:r>
            <a:endParaRPr/>
          </a:p>
        </p:txBody>
      </p:sp>
      <p:sp>
        <p:nvSpPr>
          <p:cNvPr id="148" name="Google Shape;148;p5"/>
          <p:cNvSpPr txBox="1"/>
          <p:nvPr/>
        </p:nvSpPr>
        <p:spPr>
          <a:xfrm>
            <a:off x="2272125" y="1829650"/>
            <a:ext cx="14414100" cy="9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993" u="none" cap="none" strike="noStrike">
                <a:solidFill>
                  <a:srgbClr val="6F8CF3"/>
                </a:solidFill>
                <a:latin typeface="Arial"/>
                <a:ea typeface="Arial"/>
                <a:cs typeface="Arial"/>
                <a:sym typeface="Arial"/>
              </a:rPr>
              <a:t>OBJETIVOS DEL PROYECTO</a:t>
            </a:r>
            <a:endParaRPr sz="600"/>
          </a:p>
        </p:txBody>
      </p:sp>
      <p:sp>
        <p:nvSpPr>
          <p:cNvPr id="149" name="Google Shape;149;p5"/>
          <p:cNvSpPr txBox="1"/>
          <p:nvPr/>
        </p:nvSpPr>
        <p:spPr>
          <a:xfrm>
            <a:off x="6218666" y="3062606"/>
            <a:ext cx="9405000" cy="13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Desarrollar una plataforma web centralizada para el registro y seguimiento de situaciones de convivencia escolar, que permita consultar el historial de antecedentes de un estudiante, notificar variaciones según los umbrales definidos por el establecimiento y entregar información contextualizada al encargado de convivencia escolar para la toma de decisiones.</a:t>
            </a:r>
            <a:endParaRPr sz="1600">
              <a:solidFill>
                <a:srgbClr val="22335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10634801" y="4838658"/>
            <a:ext cx="4451700" cy="10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9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97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Conformar una base digital inicial con al menos el 80% de los casos activos vigentes del establecimiento en los primeros 3 meses de funcionamiento.</a:t>
            </a:r>
            <a:endParaRPr/>
          </a:p>
        </p:txBody>
      </p:sp>
      <p:sp>
        <p:nvSpPr>
          <p:cNvPr id="151" name="Google Shape;151;p5"/>
          <p:cNvSpPr txBox="1"/>
          <p:nvPr/>
        </p:nvSpPr>
        <p:spPr>
          <a:xfrm>
            <a:off x="10634801" y="6391233"/>
            <a:ext cx="4451700" cy="10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9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97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Reducir en al menos un 50 % el tiempo de consulta del historial de un estudiante respecto del método anterior del establecimiento en 2 meses.</a:t>
            </a:r>
            <a:endParaRPr/>
          </a:p>
        </p:txBody>
      </p:sp>
      <p:grpSp>
        <p:nvGrpSpPr>
          <p:cNvPr id="152" name="Google Shape;152;p5"/>
          <p:cNvGrpSpPr/>
          <p:nvPr/>
        </p:nvGrpSpPr>
        <p:grpSpPr>
          <a:xfrm>
            <a:off x="6218666" y="5314779"/>
            <a:ext cx="3470982" cy="645769"/>
            <a:chOff x="0" y="0"/>
            <a:chExt cx="4627976" cy="861025"/>
          </a:xfrm>
        </p:grpSpPr>
        <p:grpSp>
          <p:nvGrpSpPr>
            <p:cNvPr id="153" name="Google Shape;153;p5"/>
            <p:cNvGrpSpPr/>
            <p:nvPr/>
          </p:nvGrpSpPr>
          <p:grpSpPr>
            <a:xfrm>
              <a:off x="0" y="0"/>
              <a:ext cx="4627976" cy="861025"/>
              <a:chOff x="0" y="0"/>
              <a:chExt cx="914168" cy="170079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0" y="0"/>
                <a:ext cx="914168" cy="170079"/>
              </a:xfrm>
              <a:custGeom>
                <a:rect b="b" l="l" r="r" t="t"/>
                <a:pathLst>
                  <a:path extrusionOk="0" h="170079" w="914168">
                    <a:moveTo>
                      <a:pt x="0" y="0"/>
                    </a:moveTo>
                    <a:lnTo>
                      <a:pt x="914168" y="0"/>
                    </a:lnTo>
                    <a:lnTo>
                      <a:pt x="914168" y="170079"/>
                    </a:lnTo>
                    <a:lnTo>
                      <a:pt x="0" y="170079"/>
                    </a:lnTo>
                    <a:close/>
                  </a:path>
                </a:pathLst>
              </a:custGeom>
              <a:noFill/>
              <a:ln cap="sq" cmpd="sng" w="19050">
                <a:solidFill>
                  <a:srgbClr val="6F8CF3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155" name="Google Shape;155;p5"/>
              <p:cNvSpPr txBox="1"/>
              <p:nvPr/>
            </p:nvSpPr>
            <p:spPr>
              <a:xfrm>
                <a:off x="0" y="95250"/>
                <a:ext cx="914168" cy="748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0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6" name="Google Shape;156;p5"/>
            <p:cNvSpPr txBox="1"/>
            <p:nvPr/>
          </p:nvSpPr>
          <p:spPr>
            <a:xfrm>
              <a:off x="1199008" y="259063"/>
              <a:ext cx="3136500" cy="35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46" u="none" cap="none" strike="noStrike">
                  <a:solidFill>
                    <a:srgbClr val="22335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Objetivos Específicos</a:t>
              </a:r>
              <a:endParaRPr/>
            </a:p>
          </p:txBody>
        </p:sp>
        <p:sp>
          <p:nvSpPr>
            <p:cNvPr id="157" name="Google Shape;157;p5"/>
            <p:cNvSpPr txBox="1"/>
            <p:nvPr/>
          </p:nvSpPr>
          <p:spPr>
            <a:xfrm>
              <a:off x="230017" y="240595"/>
              <a:ext cx="779400" cy="51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78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197" u="none" cap="none" strike="noStrike">
                  <a:solidFill>
                    <a:srgbClr val="6F8CF3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</p:grpSp>
      <p:grpSp>
        <p:nvGrpSpPr>
          <p:cNvPr id="158" name="Google Shape;158;p5"/>
          <p:cNvGrpSpPr/>
          <p:nvPr/>
        </p:nvGrpSpPr>
        <p:grpSpPr>
          <a:xfrm>
            <a:off x="6218666" y="6789223"/>
            <a:ext cx="3470982" cy="645769"/>
            <a:chOff x="0" y="0"/>
            <a:chExt cx="4627976" cy="861025"/>
          </a:xfrm>
        </p:grpSpPr>
        <p:grpSp>
          <p:nvGrpSpPr>
            <p:cNvPr id="159" name="Google Shape;159;p5"/>
            <p:cNvGrpSpPr/>
            <p:nvPr/>
          </p:nvGrpSpPr>
          <p:grpSpPr>
            <a:xfrm>
              <a:off x="0" y="0"/>
              <a:ext cx="4627976" cy="861025"/>
              <a:chOff x="0" y="0"/>
              <a:chExt cx="914168" cy="170079"/>
            </a:xfrm>
          </p:grpSpPr>
          <p:sp>
            <p:nvSpPr>
              <p:cNvPr id="160" name="Google Shape;160;p5"/>
              <p:cNvSpPr/>
              <p:nvPr/>
            </p:nvSpPr>
            <p:spPr>
              <a:xfrm>
                <a:off x="0" y="0"/>
                <a:ext cx="914168" cy="170079"/>
              </a:xfrm>
              <a:custGeom>
                <a:rect b="b" l="l" r="r" t="t"/>
                <a:pathLst>
                  <a:path extrusionOk="0" h="170079" w="914168">
                    <a:moveTo>
                      <a:pt x="0" y="0"/>
                    </a:moveTo>
                    <a:lnTo>
                      <a:pt x="914168" y="0"/>
                    </a:lnTo>
                    <a:lnTo>
                      <a:pt x="914168" y="170079"/>
                    </a:lnTo>
                    <a:lnTo>
                      <a:pt x="0" y="170079"/>
                    </a:lnTo>
                    <a:close/>
                  </a:path>
                </a:pathLst>
              </a:custGeom>
              <a:noFill/>
              <a:ln cap="sq" cmpd="sng" w="19050">
                <a:solidFill>
                  <a:srgbClr val="6F8CF3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161" name="Google Shape;161;p5"/>
              <p:cNvSpPr txBox="1"/>
              <p:nvPr/>
            </p:nvSpPr>
            <p:spPr>
              <a:xfrm>
                <a:off x="0" y="95250"/>
                <a:ext cx="914168" cy="748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0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2" name="Google Shape;162;p5"/>
            <p:cNvSpPr txBox="1"/>
            <p:nvPr/>
          </p:nvSpPr>
          <p:spPr>
            <a:xfrm>
              <a:off x="1245796" y="259063"/>
              <a:ext cx="3136500" cy="35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46" u="none" cap="none" strike="noStrike">
                  <a:solidFill>
                    <a:srgbClr val="22335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Objetivos Específicos</a:t>
              </a:r>
              <a:endParaRPr/>
            </a:p>
          </p:txBody>
        </p:sp>
        <p:sp>
          <p:nvSpPr>
            <p:cNvPr id="163" name="Google Shape;163;p5"/>
            <p:cNvSpPr txBox="1"/>
            <p:nvPr/>
          </p:nvSpPr>
          <p:spPr>
            <a:xfrm>
              <a:off x="212895" y="240601"/>
              <a:ext cx="639300" cy="51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78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197" u="none" cap="none" strike="noStrike">
                  <a:solidFill>
                    <a:srgbClr val="6F8CF3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/>
            </a:p>
          </p:txBody>
        </p:sp>
      </p:grpSp>
      <p:grpSp>
        <p:nvGrpSpPr>
          <p:cNvPr id="164" name="Google Shape;164;p5"/>
          <p:cNvGrpSpPr/>
          <p:nvPr/>
        </p:nvGrpSpPr>
        <p:grpSpPr>
          <a:xfrm>
            <a:off x="6218666" y="8261769"/>
            <a:ext cx="3470982" cy="645769"/>
            <a:chOff x="0" y="0"/>
            <a:chExt cx="4627976" cy="861025"/>
          </a:xfrm>
        </p:grpSpPr>
        <p:grpSp>
          <p:nvGrpSpPr>
            <p:cNvPr id="165" name="Google Shape;165;p5"/>
            <p:cNvGrpSpPr/>
            <p:nvPr/>
          </p:nvGrpSpPr>
          <p:grpSpPr>
            <a:xfrm>
              <a:off x="0" y="0"/>
              <a:ext cx="4627976" cy="861025"/>
              <a:chOff x="0" y="0"/>
              <a:chExt cx="914168" cy="170079"/>
            </a:xfrm>
          </p:grpSpPr>
          <p:sp>
            <p:nvSpPr>
              <p:cNvPr id="166" name="Google Shape;166;p5"/>
              <p:cNvSpPr/>
              <p:nvPr/>
            </p:nvSpPr>
            <p:spPr>
              <a:xfrm>
                <a:off x="0" y="0"/>
                <a:ext cx="914168" cy="170079"/>
              </a:xfrm>
              <a:custGeom>
                <a:rect b="b" l="l" r="r" t="t"/>
                <a:pathLst>
                  <a:path extrusionOk="0" h="170079" w="914168">
                    <a:moveTo>
                      <a:pt x="0" y="0"/>
                    </a:moveTo>
                    <a:lnTo>
                      <a:pt x="914168" y="0"/>
                    </a:lnTo>
                    <a:lnTo>
                      <a:pt x="914168" y="170079"/>
                    </a:lnTo>
                    <a:lnTo>
                      <a:pt x="0" y="170079"/>
                    </a:lnTo>
                    <a:close/>
                  </a:path>
                </a:pathLst>
              </a:custGeom>
              <a:noFill/>
              <a:ln cap="sq" cmpd="sng" w="19050">
                <a:solidFill>
                  <a:srgbClr val="6F8CF3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167" name="Google Shape;167;p5"/>
              <p:cNvSpPr txBox="1"/>
              <p:nvPr/>
            </p:nvSpPr>
            <p:spPr>
              <a:xfrm>
                <a:off x="0" y="95250"/>
                <a:ext cx="914168" cy="748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0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8" name="Google Shape;168;p5"/>
            <p:cNvSpPr txBox="1"/>
            <p:nvPr/>
          </p:nvSpPr>
          <p:spPr>
            <a:xfrm>
              <a:off x="158588" y="240601"/>
              <a:ext cx="648900" cy="51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78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197" u="none" cap="none" strike="noStrike">
                  <a:solidFill>
                    <a:srgbClr val="6F8CF3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/>
            </a:p>
          </p:txBody>
        </p:sp>
        <p:sp>
          <p:nvSpPr>
            <p:cNvPr id="169" name="Google Shape;169;p5"/>
            <p:cNvSpPr txBox="1"/>
            <p:nvPr/>
          </p:nvSpPr>
          <p:spPr>
            <a:xfrm>
              <a:off x="1199008" y="259063"/>
              <a:ext cx="3136500" cy="35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46" u="none" cap="none" strike="noStrike">
                  <a:solidFill>
                    <a:srgbClr val="22335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Objetivos Específicos</a:t>
              </a:r>
              <a:endParaRPr/>
            </a:p>
          </p:txBody>
        </p:sp>
      </p:grpSp>
      <p:sp>
        <p:nvSpPr>
          <p:cNvPr id="170" name="Google Shape;170;p5"/>
          <p:cNvSpPr txBox="1"/>
          <p:nvPr/>
        </p:nvSpPr>
        <p:spPr>
          <a:xfrm>
            <a:off x="10634801" y="7863778"/>
            <a:ext cx="4451700" cy="10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9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97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Emitir notificaciones en al menos el 90% de las situaciones que superen los umbrales definidos en la plataforma, durante los primeros 2 meses</a:t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14624885" y="605718"/>
            <a:ext cx="3441211" cy="845964"/>
          </a:xfrm>
          <a:custGeom>
            <a:rect b="b" l="l" r="r" t="t"/>
            <a:pathLst>
              <a:path extrusionOk="0" h="845964" w="3441211">
                <a:moveTo>
                  <a:pt x="0" y="0"/>
                </a:moveTo>
                <a:lnTo>
                  <a:pt x="3441211" y="0"/>
                </a:lnTo>
                <a:lnTo>
                  <a:pt x="3441211" y="845964"/>
                </a:lnTo>
                <a:lnTo>
                  <a:pt x="0" y="8459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"/>
          <p:cNvSpPr/>
          <p:nvPr/>
        </p:nvSpPr>
        <p:spPr>
          <a:xfrm>
            <a:off x="1028700" y="1028700"/>
            <a:ext cx="413096" cy="360426"/>
          </a:xfrm>
          <a:custGeom>
            <a:rect b="b" l="l" r="r" t="t"/>
            <a:pathLst>
              <a:path extrusionOk="0" h="360426" w="413096">
                <a:moveTo>
                  <a:pt x="0" y="0"/>
                </a:moveTo>
                <a:lnTo>
                  <a:pt x="413096" y="0"/>
                </a:lnTo>
                <a:lnTo>
                  <a:pt x="413096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" name="Google Shape;177;p6"/>
          <p:cNvSpPr/>
          <p:nvPr/>
        </p:nvSpPr>
        <p:spPr>
          <a:xfrm>
            <a:off x="1658659" y="1028700"/>
            <a:ext cx="396617" cy="360426"/>
          </a:xfrm>
          <a:custGeom>
            <a:rect b="b" l="l" r="r" t="t"/>
            <a:pathLst>
              <a:path extrusionOk="0" h="360426" w="396617">
                <a:moveTo>
                  <a:pt x="0" y="0"/>
                </a:moveTo>
                <a:lnTo>
                  <a:pt x="396617" y="0"/>
                </a:lnTo>
                <a:lnTo>
                  <a:pt x="396617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6"/>
          <p:cNvSpPr txBox="1"/>
          <p:nvPr/>
        </p:nvSpPr>
        <p:spPr>
          <a:xfrm>
            <a:off x="14292804" y="10011497"/>
            <a:ext cx="3995196" cy="265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8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8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6 / 10</a:t>
            </a:r>
            <a:endParaRPr/>
          </a:p>
        </p:txBody>
      </p:sp>
      <p:sp>
        <p:nvSpPr>
          <p:cNvPr id="179" name="Google Shape;179;p6"/>
          <p:cNvSpPr txBox="1"/>
          <p:nvPr/>
        </p:nvSpPr>
        <p:spPr>
          <a:xfrm>
            <a:off x="2055276" y="1589025"/>
            <a:ext cx="15392700" cy="10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93" u="none" cap="none" strike="noStrike">
                <a:solidFill>
                  <a:srgbClr val="6F8CF3"/>
                </a:solidFill>
                <a:latin typeface="Arial"/>
                <a:ea typeface="Arial"/>
                <a:cs typeface="Arial"/>
                <a:sym typeface="Arial"/>
              </a:rPr>
              <a:t>ALCANCE Y LIMITACIONES</a:t>
            </a:r>
            <a:endParaRPr/>
          </a:p>
        </p:txBody>
      </p:sp>
      <p:sp>
        <p:nvSpPr>
          <p:cNvPr id="180" name="Google Shape;180;p6"/>
          <p:cNvSpPr txBox="1"/>
          <p:nvPr/>
        </p:nvSpPr>
        <p:spPr>
          <a:xfrm>
            <a:off x="3338083" y="4372697"/>
            <a:ext cx="4451593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77901" lvl="1" marL="355803" marR="0" rtl="0" algn="l">
              <a:lnSpc>
                <a:spcPct val="120036"/>
              </a:lnSpc>
              <a:spcBef>
                <a:spcPts val="0"/>
              </a:spcBef>
              <a:spcAft>
                <a:spcPts val="0"/>
              </a:spcAft>
              <a:buClr>
                <a:srgbClr val="22335A"/>
              </a:buClr>
              <a:buSzPts val="1646"/>
              <a:buFont typeface="Arial"/>
              <a:buChar char="•"/>
            </a:pPr>
            <a:r>
              <a:rPr b="0" i="0" lang="en-US" sz="1647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Plataforma web multi-establecimiento con roles y permisos</a:t>
            </a:r>
            <a:endParaRPr/>
          </a:p>
          <a:p>
            <a:pPr indent="-177901" lvl="1" marL="355803" marR="0" rtl="0" algn="l">
              <a:lnSpc>
                <a:spcPct val="120036"/>
              </a:lnSpc>
              <a:spcBef>
                <a:spcPts val="0"/>
              </a:spcBef>
              <a:spcAft>
                <a:spcPts val="0"/>
              </a:spcAft>
              <a:buClr>
                <a:srgbClr val="22335A"/>
              </a:buClr>
              <a:buSzPts val="1646"/>
              <a:buFont typeface="Arial"/>
              <a:buChar char="•"/>
            </a:pPr>
            <a:r>
              <a:rPr b="0" i="0" lang="en-US" sz="1647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Importación de cursos y estudiantes desde Excel o CSV</a:t>
            </a:r>
            <a:endParaRPr/>
          </a:p>
          <a:p>
            <a:pPr indent="-177901" lvl="1" marL="355803" marR="0" rtl="0" algn="l">
              <a:lnSpc>
                <a:spcPct val="120036"/>
              </a:lnSpc>
              <a:spcBef>
                <a:spcPts val="0"/>
              </a:spcBef>
              <a:spcAft>
                <a:spcPts val="0"/>
              </a:spcAft>
              <a:buClr>
                <a:srgbClr val="22335A"/>
              </a:buClr>
              <a:buSzPts val="1646"/>
              <a:buFont typeface="Arial"/>
              <a:buChar char="•"/>
            </a:pPr>
            <a:r>
              <a:rPr b="0" i="0" lang="en-US" sz="1647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Registro de situaciones por parte del profesor</a:t>
            </a:r>
            <a:endParaRPr/>
          </a:p>
          <a:p>
            <a:pPr indent="-177901" lvl="1" marL="355803" marR="0" rtl="0" algn="l">
              <a:lnSpc>
                <a:spcPct val="120036"/>
              </a:lnSpc>
              <a:spcBef>
                <a:spcPts val="0"/>
              </a:spcBef>
              <a:spcAft>
                <a:spcPts val="0"/>
              </a:spcAft>
              <a:buClr>
                <a:srgbClr val="22335A"/>
              </a:buClr>
              <a:buSzPts val="1646"/>
              <a:buFont typeface="Arial"/>
              <a:buChar char="•"/>
            </a:pPr>
            <a:r>
              <a:rPr b="0" i="0" lang="en-US" sz="1647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Gestión de casos con intervenciones y seguimientos</a:t>
            </a:r>
            <a:endParaRPr/>
          </a:p>
          <a:p>
            <a:pPr indent="-177901" lvl="1" marL="355803" marR="0" rtl="0" algn="l">
              <a:lnSpc>
                <a:spcPct val="120036"/>
              </a:lnSpc>
              <a:spcBef>
                <a:spcPts val="0"/>
              </a:spcBef>
              <a:spcAft>
                <a:spcPts val="0"/>
              </a:spcAft>
              <a:buClr>
                <a:srgbClr val="22335A"/>
              </a:buClr>
              <a:buSzPts val="1646"/>
              <a:buFont typeface="Arial"/>
              <a:buChar char="•"/>
            </a:pPr>
            <a:r>
              <a:rPr b="0" i="0" lang="en-US" sz="1647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Motor de reglas con umbrales configurables y notificaciones explicadas</a:t>
            </a:r>
            <a:endParaRPr/>
          </a:p>
          <a:p>
            <a:pPr indent="-177901" lvl="1" marL="355803" marR="0" rtl="0" algn="l">
              <a:lnSpc>
                <a:spcPct val="120036"/>
              </a:lnSpc>
              <a:spcBef>
                <a:spcPts val="0"/>
              </a:spcBef>
              <a:spcAft>
                <a:spcPts val="0"/>
              </a:spcAft>
              <a:buClr>
                <a:srgbClr val="22335A"/>
              </a:buClr>
              <a:buSzPts val="1646"/>
              <a:buFont typeface="Arial"/>
              <a:buChar char="•"/>
            </a:pPr>
            <a:r>
              <a:rPr b="0" i="0" lang="en-US" sz="1647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Ficha del estudiante con historial consolidado</a:t>
            </a:r>
            <a:endParaRPr/>
          </a:p>
          <a:p>
            <a:pPr indent="-177901" lvl="1" marL="355803" marR="0" rtl="0" algn="l">
              <a:lnSpc>
                <a:spcPct val="120036"/>
              </a:lnSpc>
              <a:spcBef>
                <a:spcPts val="0"/>
              </a:spcBef>
              <a:spcAft>
                <a:spcPts val="0"/>
              </a:spcAft>
              <a:buClr>
                <a:srgbClr val="22335A"/>
              </a:buClr>
              <a:buSzPts val="1646"/>
              <a:buFont typeface="Arial"/>
              <a:buChar char="•"/>
            </a:pPr>
            <a:r>
              <a:rPr b="0" i="0" lang="en-US" sz="1647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Dashboard, indicadores e informes en PDF</a:t>
            </a:r>
            <a:endParaRPr/>
          </a:p>
          <a:p>
            <a:pPr indent="-177901" lvl="1" marL="355803" marR="0" rtl="0" algn="l">
              <a:lnSpc>
                <a:spcPct val="120036"/>
              </a:lnSpc>
              <a:spcBef>
                <a:spcPts val="0"/>
              </a:spcBef>
              <a:spcAft>
                <a:spcPts val="0"/>
              </a:spcAft>
              <a:buClr>
                <a:srgbClr val="22335A"/>
              </a:buClr>
              <a:buSzPts val="1646"/>
              <a:buFont typeface="Arial"/>
              <a:buChar char="•"/>
            </a:pPr>
            <a:r>
              <a:rPr b="0" i="0" lang="en-US" sz="1647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Auditoría de acciones principales</a:t>
            </a:r>
            <a:endParaRPr/>
          </a:p>
          <a:p>
            <a:pPr indent="-177901" lvl="1" marL="355803" marR="0" rtl="0" algn="l">
              <a:lnSpc>
                <a:spcPct val="120036"/>
              </a:lnSpc>
              <a:spcBef>
                <a:spcPts val="0"/>
              </a:spcBef>
              <a:spcAft>
                <a:spcPts val="0"/>
              </a:spcAft>
              <a:buClr>
                <a:srgbClr val="22335A"/>
              </a:buClr>
              <a:buSzPts val="1646"/>
              <a:buFont typeface="Arial"/>
              <a:buChar char="•"/>
            </a:pPr>
            <a:r>
              <a:rPr b="0" i="0" lang="en-US" sz="1647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Asistente de IA: resumir caso, explicar notificación, borrador de informe y mas funciones</a:t>
            </a:r>
            <a:endParaRPr/>
          </a:p>
          <a:p>
            <a:pPr indent="0" lvl="0" marL="0" marR="0" rtl="0" algn="l">
              <a:lnSpc>
                <a:spcPct val="120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47" u="none" cap="none" strike="noStrike">
              <a:solidFill>
                <a:srgbClr val="22335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81" name="Google Shape;181;p6"/>
          <p:cNvGrpSpPr/>
          <p:nvPr/>
        </p:nvGrpSpPr>
        <p:grpSpPr>
          <a:xfrm>
            <a:off x="3828388" y="3381952"/>
            <a:ext cx="3470982" cy="645769"/>
            <a:chOff x="0" y="0"/>
            <a:chExt cx="914168" cy="170079"/>
          </a:xfrm>
        </p:grpSpPr>
        <p:sp>
          <p:nvSpPr>
            <p:cNvPr id="182" name="Google Shape;182;p6"/>
            <p:cNvSpPr/>
            <p:nvPr/>
          </p:nvSpPr>
          <p:spPr>
            <a:xfrm>
              <a:off x="0" y="0"/>
              <a:ext cx="914168" cy="170079"/>
            </a:xfrm>
            <a:custGeom>
              <a:rect b="b" l="l" r="r" t="t"/>
              <a:pathLst>
                <a:path extrusionOk="0" h="170079" w="914168">
                  <a:moveTo>
                    <a:pt x="0" y="0"/>
                  </a:moveTo>
                  <a:lnTo>
                    <a:pt x="914168" y="0"/>
                  </a:lnTo>
                  <a:lnTo>
                    <a:pt x="914168" y="170079"/>
                  </a:lnTo>
                  <a:lnTo>
                    <a:pt x="0" y="170079"/>
                  </a:lnTo>
                  <a:close/>
                </a:path>
              </a:pathLst>
            </a:custGeom>
            <a:noFill/>
            <a:ln cap="sq" cmpd="sng" w="19050">
              <a:solidFill>
                <a:srgbClr val="6F8CF3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83" name="Google Shape;183;p6"/>
            <p:cNvSpPr txBox="1"/>
            <p:nvPr/>
          </p:nvSpPr>
          <p:spPr>
            <a:xfrm>
              <a:off x="0" y="95250"/>
              <a:ext cx="914168" cy="748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0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" name="Google Shape;184;p6"/>
          <p:cNvSpPr txBox="1"/>
          <p:nvPr/>
        </p:nvSpPr>
        <p:spPr>
          <a:xfrm>
            <a:off x="4975808" y="3552437"/>
            <a:ext cx="117614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22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Alcances</a:t>
            </a:r>
            <a:endParaRPr/>
          </a:p>
        </p:txBody>
      </p:sp>
      <p:sp>
        <p:nvSpPr>
          <p:cNvPr id="185" name="Google Shape;185;p6"/>
          <p:cNvSpPr txBox="1"/>
          <p:nvPr/>
        </p:nvSpPr>
        <p:spPr>
          <a:xfrm>
            <a:off x="10498324" y="4372697"/>
            <a:ext cx="4451593" cy="470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77901" lvl="1" marL="355803" marR="0" rtl="0" algn="l">
              <a:lnSpc>
                <a:spcPct val="120036"/>
              </a:lnSpc>
              <a:spcBef>
                <a:spcPts val="0"/>
              </a:spcBef>
              <a:spcAft>
                <a:spcPts val="0"/>
              </a:spcAft>
              <a:buClr>
                <a:srgbClr val="22335A"/>
              </a:buClr>
              <a:buSzPts val="1646"/>
              <a:buFont typeface="Arial"/>
              <a:buChar char="•"/>
            </a:pPr>
            <a:r>
              <a:rPr b="0" i="0" lang="en-US" sz="1647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No realiza diagnóstico psicológico ni clínico</a:t>
            </a:r>
            <a:endParaRPr/>
          </a:p>
          <a:p>
            <a:pPr indent="-177901" lvl="1" marL="355803" marR="0" rtl="0" algn="l">
              <a:lnSpc>
                <a:spcPct val="120036"/>
              </a:lnSpc>
              <a:spcBef>
                <a:spcPts val="0"/>
              </a:spcBef>
              <a:spcAft>
                <a:spcPts val="0"/>
              </a:spcAft>
              <a:buClr>
                <a:srgbClr val="22335A"/>
              </a:buClr>
              <a:buSzPts val="1646"/>
              <a:buFont typeface="Arial"/>
              <a:buChar char="•"/>
            </a:pPr>
            <a:r>
              <a:rPr b="0" i="0" lang="en-US" sz="1647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No aplica sanciones ni decisiones automáticas</a:t>
            </a:r>
            <a:endParaRPr/>
          </a:p>
          <a:p>
            <a:pPr indent="-177901" lvl="1" marL="355803" marR="0" rtl="0" algn="l">
              <a:lnSpc>
                <a:spcPct val="120036"/>
              </a:lnSpc>
              <a:spcBef>
                <a:spcPts val="0"/>
              </a:spcBef>
              <a:spcAft>
                <a:spcPts val="0"/>
              </a:spcAft>
              <a:buClr>
                <a:srgbClr val="22335A"/>
              </a:buClr>
              <a:buSzPts val="1646"/>
              <a:buFont typeface="Arial"/>
              <a:buChar char="•"/>
            </a:pPr>
            <a:r>
              <a:rPr b="0" i="0" lang="en-US" sz="1647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No predice conducta ni clasifica estudiantes por riesgo</a:t>
            </a:r>
            <a:endParaRPr/>
          </a:p>
          <a:p>
            <a:pPr indent="-177901" lvl="1" marL="355803" marR="0" rtl="0" algn="l">
              <a:lnSpc>
                <a:spcPct val="120036"/>
              </a:lnSpc>
              <a:spcBef>
                <a:spcPts val="0"/>
              </a:spcBef>
              <a:spcAft>
                <a:spcPts val="0"/>
              </a:spcAft>
              <a:buClr>
                <a:srgbClr val="22335A"/>
              </a:buClr>
              <a:buSzPts val="1646"/>
              <a:buFont typeface="Arial"/>
              <a:buChar char="•"/>
            </a:pPr>
            <a:r>
              <a:rPr b="0" i="0" lang="en-US" sz="1647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La IA no accede libremente a la base de datos ni reemplaza el criterio profesional</a:t>
            </a:r>
            <a:endParaRPr/>
          </a:p>
          <a:p>
            <a:pPr indent="-177901" lvl="1" marL="355803" marR="0" rtl="0" algn="l">
              <a:lnSpc>
                <a:spcPct val="120036"/>
              </a:lnSpc>
              <a:spcBef>
                <a:spcPts val="0"/>
              </a:spcBef>
              <a:spcAft>
                <a:spcPts val="0"/>
              </a:spcAft>
              <a:buClr>
                <a:srgbClr val="22335A"/>
              </a:buClr>
              <a:buSzPts val="1646"/>
              <a:buFont typeface="Arial"/>
              <a:buChar char="•"/>
            </a:pPr>
            <a:r>
              <a:rPr b="0" i="0" lang="en-US" sz="1647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No integra con Lirmi ni otros sistemas escolares en esta versión</a:t>
            </a:r>
            <a:endParaRPr/>
          </a:p>
          <a:p>
            <a:pPr indent="-177901" lvl="1" marL="355803" marR="0" rtl="0" algn="l">
              <a:lnSpc>
                <a:spcPct val="120036"/>
              </a:lnSpc>
              <a:spcBef>
                <a:spcPts val="0"/>
              </a:spcBef>
              <a:spcAft>
                <a:spcPts val="0"/>
              </a:spcAft>
              <a:buClr>
                <a:srgbClr val="22335A"/>
              </a:buClr>
              <a:buSzPts val="1646"/>
              <a:buFont typeface="Arial"/>
              <a:buChar char="•"/>
            </a:pPr>
            <a:r>
              <a:rPr b="0" i="0" lang="en-US" sz="1647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No exige digitalizar años completos de información histórica</a:t>
            </a:r>
            <a:endParaRPr/>
          </a:p>
          <a:p>
            <a:pPr indent="-177901" lvl="1" marL="355803" marR="0" rtl="0" algn="l">
              <a:lnSpc>
                <a:spcPct val="120036"/>
              </a:lnSpc>
              <a:spcBef>
                <a:spcPts val="0"/>
              </a:spcBef>
              <a:spcAft>
                <a:spcPts val="0"/>
              </a:spcAft>
              <a:buClr>
                <a:srgbClr val="22335A"/>
              </a:buClr>
              <a:buSzPts val="1646"/>
              <a:buFont typeface="Arial"/>
              <a:buChar char="•"/>
            </a:pPr>
            <a:r>
              <a:rPr b="0" i="0" lang="en-US" sz="1647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Sin aplicación móvil ni notificaciones push</a:t>
            </a:r>
            <a:endParaRPr/>
          </a:p>
          <a:p>
            <a:pPr indent="-177901" lvl="1" marL="355803" marR="0" rtl="0" algn="l">
              <a:lnSpc>
                <a:spcPct val="120036"/>
              </a:lnSpc>
              <a:spcBef>
                <a:spcPts val="0"/>
              </a:spcBef>
              <a:spcAft>
                <a:spcPts val="0"/>
              </a:spcAft>
              <a:buClr>
                <a:srgbClr val="22335A"/>
              </a:buClr>
              <a:buSzPts val="1646"/>
              <a:buFont typeface="Arial"/>
              <a:buChar char="•"/>
            </a:pPr>
            <a:r>
              <a:rPr b="0" i="0" lang="en-US" sz="1647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Sin comunicación con apoderados</a:t>
            </a:r>
            <a:endParaRPr/>
          </a:p>
          <a:p>
            <a:pPr indent="-177901" lvl="1" marL="355803" marR="0" rtl="0" algn="l">
              <a:lnSpc>
                <a:spcPct val="120036"/>
              </a:lnSpc>
              <a:spcBef>
                <a:spcPts val="0"/>
              </a:spcBef>
              <a:spcAft>
                <a:spcPts val="0"/>
              </a:spcAft>
              <a:buClr>
                <a:srgbClr val="22335A"/>
              </a:buClr>
              <a:buSzPts val="1646"/>
              <a:buFont typeface="Arial"/>
              <a:buChar char="•"/>
            </a:pPr>
            <a:r>
              <a:rPr b="0" i="0" lang="en-US" sz="1647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Validación con un solo establecimiento piloto</a:t>
            </a:r>
            <a:endParaRPr/>
          </a:p>
          <a:p>
            <a:pPr indent="0" lvl="0" marL="0" marR="0" rtl="0" algn="l">
              <a:lnSpc>
                <a:spcPct val="120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47" u="none" cap="none" strike="noStrike">
              <a:solidFill>
                <a:srgbClr val="22335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86" name="Google Shape;186;p6"/>
          <p:cNvGrpSpPr/>
          <p:nvPr/>
        </p:nvGrpSpPr>
        <p:grpSpPr>
          <a:xfrm>
            <a:off x="10988630" y="3381952"/>
            <a:ext cx="3470982" cy="645769"/>
            <a:chOff x="0" y="0"/>
            <a:chExt cx="914168" cy="170079"/>
          </a:xfrm>
        </p:grpSpPr>
        <p:sp>
          <p:nvSpPr>
            <p:cNvPr id="187" name="Google Shape;187;p6"/>
            <p:cNvSpPr/>
            <p:nvPr/>
          </p:nvSpPr>
          <p:spPr>
            <a:xfrm>
              <a:off x="0" y="0"/>
              <a:ext cx="914168" cy="170079"/>
            </a:xfrm>
            <a:custGeom>
              <a:rect b="b" l="l" r="r" t="t"/>
              <a:pathLst>
                <a:path extrusionOk="0" h="170079" w="914168">
                  <a:moveTo>
                    <a:pt x="0" y="0"/>
                  </a:moveTo>
                  <a:lnTo>
                    <a:pt x="914168" y="0"/>
                  </a:lnTo>
                  <a:lnTo>
                    <a:pt x="914168" y="170079"/>
                  </a:lnTo>
                  <a:lnTo>
                    <a:pt x="0" y="170079"/>
                  </a:lnTo>
                  <a:close/>
                </a:path>
              </a:pathLst>
            </a:custGeom>
            <a:noFill/>
            <a:ln cap="sq" cmpd="sng" w="19050">
              <a:solidFill>
                <a:srgbClr val="6F8CF3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88" name="Google Shape;188;p6"/>
            <p:cNvSpPr txBox="1"/>
            <p:nvPr/>
          </p:nvSpPr>
          <p:spPr>
            <a:xfrm>
              <a:off x="0" y="95250"/>
              <a:ext cx="914168" cy="748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0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6"/>
          <p:cNvSpPr txBox="1"/>
          <p:nvPr/>
        </p:nvSpPr>
        <p:spPr>
          <a:xfrm>
            <a:off x="11937866" y="3552437"/>
            <a:ext cx="157250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22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Limitaciones</a:t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14624885" y="605718"/>
            <a:ext cx="3441211" cy="845964"/>
          </a:xfrm>
          <a:custGeom>
            <a:rect b="b" l="l" r="r" t="t"/>
            <a:pathLst>
              <a:path extrusionOk="0" h="845964" w="3441211">
                <a:moveTo>
                  <a:pt x="0" y="0"/>
                </a:moveTo>
                <a:lnTo>
                  <a:pt x="3441211" y="0"/>
                </a:lnTo>
                <a:lnTo>
                  <a:pt x="3441211" y="845964"/>
                </a:lnTo>
                <a:lnTo>
                  <a:pt x="0" y="8459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"/>
          <p:cNvSpPr/>
          <p:nvPr/>
        </p:nvSpPr>
        <p:spPr>
          <a:xfrm>
            <a:off x="1028700" y="1028700"/>
            <a:ext cx="413096" cy="360426"/>
          </a:xfrm>
          <a:custGeom>
            <a:rect b="b" l="l" r="r" t="t"/>
            <a:pathLst>
              <a:path extrusionOk="0" h="360426" w="413096">
                <a:moveTo>
                  <a:pt x="0" y="0"/>
                </a:moveTo>
                <a:lnTo>
                  <a:pt x="413096" y="0"/>
                </a:lnTo>
                <a:lnTo>
                  <a:pt x="413096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6" name="Google Shape;196;p7"/>
          <p:cNvSpPr/>
          <p:nvPr/>
        </p:nvSpPr>
        <p:spPr>
          <a:xfrm>
            <a:off x="1658659" y="1028700"/>
            <a:ext cx="396617" cy="360426"/>
          </a:xfrm>
          <a:custGeom>
            <a:rect b="b" l="l" r="r" t="t"/>
            <a:pathLst>
              <a:path extrusionOk="0" h="360426" w="396617">
                <a:moveTo>
                  <a:pt x="0" y="0"/>
                </a:moveTo>
                <a:lnTo>
                  <a:pt x="396617" y="0"/>
                </a:lnTo>
                <a:lnTo>
                  <a:pt x="396617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7" name="Google Shape;197;p7"/>
          <p:cNvSpPr txBox="1"/>
          <p:nvPr/>
        </p:nvSpPr>
        <p:spPr>
          <a:xfrm>
            <a:off x="14292804" y="10021903"/>
            <a:ext cx="3995196" cy="265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8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8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7 / 10</a:t>
            </a:r>
            <a:endParaRPr/>
          </a:p>
        </p:txBody>
      </p:sp>
      <p:sp>
        <p:nvSpPr>
          <p:cNvPr id="198" name="Google Shape;198;p7"/>
          <p:cNvSpPr txBox="1"/>
          <p:nvPr/>
        </p:nvSpPr>
        <p:spPr>
          <a:xfrm>
            <a:off x="4906350" y="2552175"/>
            <a:ext cx="8475300" cy="10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93" u="none" cap="none" strike="noStrike">
                <a:solidFill>
                  <a:srgbClr val="6F8CF3"/>
                </a:solidFill>
                <a:latin typeface="Arial"/>
                <a:ea typeface="Arial"/>
                <a:cs typeface="Arial"/>
                <a:sym typeface="Arial"/>
              </a:rPr>
              <a:t>METODOLOGIA</a:t>
            </a:r>
            <a:endParaRPr/>
          </a:p>
        </p:txBody>
      </p:sp>
      <p:sp>
        <p:nvSpPr>
          <p:cNvPr id="199" name="Google Shape;199;p7"/>
          <p:cNvSpPr txBox="1"/>
          <p:nvPr/>
        </p:nvSpPr>
        <p:spPr>
          <a:xfrm>
            <a:off x="6961116" y="3857251"/>
            <a:ext cx="4365767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99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Scrum adaptado a un equipo de tres integrantes</a:t>
            </a:r>
            <a:endParaRPr/>
          </a:p>
        </p:txBody>
      </p:sp>
      <p:sp>
        <p:nvSpPr>
          <p:cNvPr id="200" name="Google Shape;200;p7"/>
          <p:cNvSpPr txBox="1"/>
          <p:nvPr/>
        </p:nvSpPr>
        <p:spPr>
          <a:xfrm>
            <a:off x="5255352" y="5013830"/>
            <a:ext cx="7777297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6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Sprints de 2 semanas: 6 sprints en las 18 semanas del proyecto</a:t>
            </a:r>
            <a:endParaRPr/>
          </a:p>
          <a:p>
            <a:pPr indent="0" lvl="0" marL="0" marR="0" rtl="0" algn="ctr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6" u="none" cap="none" strike="noStrike">
              <a:solidFill>
                <a:srgbClr val="22335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6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Product Backlog con historias de usuario y criterios de aceptación</a:t>
            </a:r>
            <a:endParaRPr/>
          </a:p>
          <a:p>
            <a:pPr indent="0" lvl="0" marL="0" marR="0" rtl="0" algn="ctr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6" u="none" cap="none" strike="noStrike">
              <a:solidFill>
                <a:srgbClr val="22335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6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Sprint Planning, Daily acotada y Sprint Review al cierre de cada sprint</a:t>
            </a:r>
            <a:endParaRPr/>
          </a:p>
          <a:p>
            <a:pPr indent="0" lvl="0" marL="0" marR="0" rtl="0" algn="ctr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6" u="none" cap="none" strike="noStrike">
              <a:solidFill>
                <a:srgbClr val="22335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6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Roles definidos: Product Owner, Scrum Master y equipo de desarrollo</a:t>
            </a:r>
            <a:endParaRPr/>
          </a:p>
          <a:p>
            <a:pPr indent="0" lvl="0" marL="0" marR="0" rtl="0" algn="ctr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6" u="none" cap="none" strike="noStrike">
              <a:solidFill>
                <a:srgbClr val="22335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6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Tablero en GitHub Projects vinculado a ramas y commits</a:t>
            </a:r>
            <a:endParaRPr/>
          </a:p>
          <a:p>
            <a:pPr indent="0" lvl="0" marL="0" marR="0" rtl="0" algn="ctr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6" u="none" cap="none" strike="noStrike">
              <a:solidFill>
                <a:srgbClr val="22335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6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Punto de control de avance en la semana 9</a:t>
            </a:r>
            <a:endParaRPr/>
          </a:p>
          <a:p>
            <a:pPr indent="0" lvl="0" marL="0" marR="0" rtl="0" algn="ctr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6" u="none" cap="none" strike="noStrike">
              <a:solidFill>
                <a:srgbClr val="22335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14624885" y="605718"/>
            <a:ext cx="3441211" cy="845964"/>
          </a:xfrm>
          <a:custGeom>
            <a:rect b="b" l="l" r="r" t="t"/>
            <a:pathLst>
              <a:path extrusionOk="0" h="845964" w="3441211">
                <a:moveTo>
                  <a:pt x="0" y="0"/>
                </a:moveTo>
                <a:lnTo>
                  <a:pt x="3441211" y="0"/>
                </a:lnTo>
                <a:lnTo>
                  <a:pt x="3441211" y="845964"/>
                </a:lnTo>
                <a:lnTo>
                  <a:pt x="0" y="8459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6" name="Google Shape;206;p8"/>
          <p:cNvCxnSpPr/>
          <p:nvPr/>
        </p:nvCxnSpPr>
        <p:spPr>
          <a:xfrm>
            <a:off x="8176705" y="9277350"/>
            <a:ext cx="1848291" cy="0"/>
          </a:xfrm>
          <a:prstGeom prst="straightConnector1">
            <a:avLst/>
          </a:prstGeom>
          <a:noFill/>
          <a:ln cap="flat" cmpd="sng" w="38100">
            <a:solidFill>
              <a:srgbClr val="22335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07" name="Google Shape;207;p8"/>
          <p:cNvSpPr/>
          <p:nvPr/>
        </p:nvSpPr>
        <p:spPr>
          <a:xfrm>
            <a:off x="1028700" y="1028700"/>
            <a:ext cx="413096" cy="360426"/>
          </a:xfrm>
          <a:custGeom>
            <a:rect b="b" l="l" r="r" t="t"/>
            <a:pathLst>
              <a:path extrusionOk="0" h="360426" w="413096">
                <a:moveTo>
                  <a:pt x="0" y="0"/>
                </a:moveTo>
                <a:lnTo>
                  <a:pt x="413096" y="0"/>
                </a:lnTo>
                <a:lnTo>
                  <a:pt x="413096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8" name="Google Shape;208;p8"/>
          <p:cNvSpPr/>
          <p:nvPr/>
        </p:nvSpPr>
        <p:spPr>
          <a:xfrm>
            <a:off x="1658659" y="1028700"/>
            <a:ext cx="396617" cy="360426"/>
          </a:xfrm>
          <a:custGeom>
            <a:rect b="b" l="l" r="r" t="t"/>
            <a:pathLst>
              <a:path extrusionOk="0" h="360426" w="396617">
                <a:moveTo>
                  <a:pt x="0" y="0"/>
                </a:moveTo>
                <a:lnTo>
                  <a:pt x="396617" y="0"/>
                </a:lnTo>
                <a:lnTo>
                  <a:pt x="396617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9" name="Google Shape;209;p8"/>
          <p:cNvSpPr/>
          <p:nvPr/>
        </p:nvSpPr>
        <p:spPr>
          <a:xfrm>
            <a:off x="9758031" y="3443182"/>
            <a:ext cx="1504013" cy="1504013"/>
          </a:xfrm>
          <a:custGeom>
            <a:rect b="b" l="l" r="r" t="t"/>
            <a:pathLst>
              <a:path extrusionOk="0" h="1504013" w="1504013">
                <a:moveTo>
                  <a:pt x="0" y="0"/>
                </a:moveTo>
                <a:lnTo>
                  <a:pt x="1504013" y="0"/>
                </a:lnTo>
                <a:lnTo>
                  <a:pt x="1504013" y="1504014"/>
                </a:lnTo>
                <a:lnTo>
                  <a:pt x="0" y="15040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0" name="Google Shape;210;p8"/>
          <p:cNvSpPr/>
          <p:nvPr/>
        </p:nvSpPr>
        <p:spPr>
          <a:xfrm>
            <a:off x="7409121" y="3167476"/>
            <a:ext cx="1614885" cy="1824728"/>
          </a:xfrm>
          <a:custGeom>
            <a:rect b="b" l="l" r="r" t="t"/>
            <a:pathLst>
              <a:path extrusionOk="0" h="1824728" w="1614885">
                <a:moveTo>
                  <a:pt x="0" y="0"/>
                </a:moveTo>
                <a:lnTo>
                  <a:pt x="1614885" y="0"/>
                </a:lnTo>
                <a:lnTo>
                  <a:pt x="1614885" y="1824729"/>
                </a:lnTo>
                <a:lnTo>
                  <a:pt x="0" y="18247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1" name="Google Shape;211;p8"/>
          <p:cNvSpPr/>
          <p:nvPr/>
        </p:nvSpPr>
        <p:spPr>
          <a:xfrm>
            <a:off x="7232749" y="5609376"/>
            <a:ext cx="2127007" cy="1357920"/>
          </a:xfrm>
          <a:custGeom>
            <a:rect b="b" l="l" r="r" t="t"/>
            <a:pathLst>
              <a:path extrusionOk="0" h="1357920" w="2127007">
                <a:moveTo>
                  <a:pt x="0" y="0"/>
                </a:moveTo>
                <a:lnTo>
                  <a:pt x="2127007" y="0"/>
                </a:lnTo>
                <a:lnTo>
                  <a:pt x="2127007" y="1357920"/>
                </a:lnTo>
                <a:lnTo>
                  <a:pt x="0" y="135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85" r="-4322" t="0"/>
            </a:stretch>
          </a:blipFill>
          <a:ln>
            <a:noFill/>
          </a:ln>
        </p:spPr>
      </p:sp>
      <p:sp>
        <p:nvSpPr>
          <p:cNvPr id="212" name="Google Shape;212;p8"/>
          <p:cNvSpPr/>
          <p:nvPr/>
        </p:nvSpPr>
        <p:spPr>
          <a:xfrm>
            <a:off x="1441796" y="3161563"/>
            <a:ext cx="1901208" cy="1836567"/>
          </a:xfrm>
          <a:custGeom>
            <a:rect b="b" l="l" r="r" t="t"/>
            <a:pathLst>
              <a:path extrusionOk="0" h="1836567" w="1901208">
                <a:moveTo>
                  <a:pt x="0" y="0"/>
                </a:moveTo>
                <a:lnTo>
                  <a:pt x="1901207" y="0"/>
                </a:lnTo>
                <a:lnTo>
                  <a:pt x="1901207" y="1836567"/>
                </a:lnTo>
                <a:lnTo>
                  <a:pt x="0" y="18365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8"/>
          <p:cNvSpPr/>
          <p:nvPr/>
        </p:nvSpPr>
        <p:spPr>
          <a:xfrm>
            <a:off x="3761056" y="3150576"/>
            <a:ext cx="1785172" cy="1785172"/>
          </a:xfrm>
          <a:custGeom>
            <a:rect b="b" l="l" r="r" t="t"/>
            <a:pathLst>
              <a:path extrusionOk="0" h="1785172" w="1785172">
                <a:moveTo>
                  <a:pt x="0" y="0"/>
                </a:moveTo>
                <a:lnTo>
                  <a:pt x="1785172" y="0"/>
                </a:lnTo>
                <a:lnTo>
                  <a:pt x="1785172" y="1785172"/>
                </a:lnTo>
                <a:lnTo>
                  <a:pt x="0" y="1785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4" name="Google Shape;214;p8"/>
          <p:cNvSpPr/>
          <p:nvPr/>
        </p:nvSpPr>
        <p:spPr>
          <a:xfrm>
            <a:off x="15611439" y="3443174"/>
            <a:ext cx="1357920" cy="1357920"/>
          </a:xfrm>
          <a:custGeom>
            <a:rect b="b" l="l" r="r" t="t"/>
            <a:pathLst>
              <a:path extrusionOk="0" h="1357920" w="1357920">
                <a:moveTo>
                  <a:pt x="0" y="0"/>
                </a:moveTo>
                <a:lnTo>
                  <a:pt x="1357920" y="0"/>
                </a:lnTo>
                <a:lnTo>
                  <a:pt x="1357920" y="1357920"/>
                </a:lnTo>
                <a:lnTo>
                  <a:pt x="0" y="135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5" name="Google Shape;215;p8"/>
          <p:cNvSpPr/>
          <p:nvPr/>
        </p:nvSpPr>
        <p:spPr>
          <a:xfrm>
            <a:off x="13224216" y="3415346"/>
            <a:ext cx="1949721" cy="1413548"/>
          </a:xfrm>
          <a:custGeom>
            <a:rect b="b" l="l" r="r" t="t"/>
            <a:pathLst>
              <a:path extrusionOk="0" h="1413548" w="1949721">
                <a:moveTo>
                  <a:pt x="0" y="0"/>
                </a:moveTo>
                <a:lnTo>
                  <a:pt x="1949721" y="0"/>
                </a:lnTo>
                <a:lnTo>
                  <a:pt x="1949721" y="1413548"/>
                </a:lnTo>
                <a:lnTo>
                  <a:pt x="0" y="14135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6" name="Google Shape;216;p8"/>
          <p:cNvSpPr/>
          <p:nvPr/>
        </p:nvSpPr>
        <p:spPr>
          <a:xfrm>
            <a:off x="2823206" y="5631615"/>
            <a:ext cx="1228038" cy="1313409"/>
          </a:xfrm>
          <a:custGeom>
            <a:rect b="b" l="l" r="r" t="t"/>
            <a:pathLst>
              <a:path extrusionOk="0" h="1313409" w="1228038">
                <a:moveTo>
                  <a:pt x="0" y="0"/>
                </a:moveTo>
                <a:lnTo>
                  <a:pt x="1228038" y="0"/>
                </a:lnTo>
                <a:lnTo>
                  <a:pt x="1228038" y="1313409"/>
                </a:lnTo>
                <a:lnTo>
                  <a:pt x="0" y="13134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p8"/>
          <p:cNvSpPr/>
          <p:nvPr/>
        </p:nvSpPr>
        <p:spPr>
          <a:xfrm>
            <a:off x="14424406" y="5157648"/>
            <a:ext cx="1187033" cy="1747312"/>
          </a:xfrm>
          <a:custGeom>
            <a:rect b="b" l="l" r="r" t="t"/>
            <a:pathLst>
              <a:path extrusionOk="0" h="1747312" w="1187033">
                <a:moveTo>
                  <a:pt x="0" y="0"/>
                </a:moveTo>
                <a:lnTo>
                  <a:pt x="1187033" y="0"/>
                </a:lnTo>
                <a:lnTo>
                  <a:pt x="1187033" y="1747312"/>
                </a:lnTo>
                <a:lnTo>
                  <a:pt x="0" y="17473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8"/>
          <p:cNvSpPr/>
          <p:nvPr/>
        </p:nvSpPr>
        <p:spPr>
          <a:xfrm>
            <a:off x="9848667" y="5609255"/>
            <a:ext cx="1584505" cy="1358147"/>
          </a:xfrm>
          <a:custGeom>
            <a:rect b="b" l="l" r="r" t="t"/>
            <a:pathLst>
              <a:path extrusionOk="0" h="1358147" w="1584505">
                <a:moveTo>
                  <a:pt x="0" y="0"/>
                </a:moveTo>
                <a:lnTo>
                  <a:pt x="1584504" y="0"/>
                </a:lnTo>
                <a:lnTo>
                  <a:pt x="1584504" y="1358147"/>
                </a:lnTo>
                <a:lnTo>
                  <a:pt x="0" y="13581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9" name="Google Shape;219;p8"/>
          <p:cNvSpPr txBox="1"/>
          <p:nvPr/>
        </p:nvSpPr>
        <p:spPr>
          <a:xfrm>
            <a:off x="14292804" y="10021903"/>
            <a:ext cx="3995196" cy="265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8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8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8/10</a:t>
            </a:r>
            <a:endParaRPr/>
          </a:p>
        </p:txBody>
      </p:sp>
      <p:sp>
        <p:nvSpPr>
          <p:cNvPr id="220" name="Google Shape;220;p8"/>
          <p:cNvSpPr txBox="1"/>
          <p:nvPr/>
        </p:nvSpPr>
        <p:spPr>
          <a:xfrm>
            <a:off x="4926998" y="1028700"/>
            <a:ext cx="8611500" cy="10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90" u="none" cap="none" strike="noStrike">
                <a:solidFill>
                  <a:srgbClr val="6F8CF3"/>
                </a:solidFill>
                <a:latin typeface="Arial"/>
                <a:ea typeface="Arial"/>
                <a:cs typeface="Arial"/>
                <a:sym typeface="Arial"/>
              </a:rPr>
              <a:t>TECNOLOGIAS</a:t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14624885" y="605718"/>
            <a:ext cx="3441211" cy="845964"/>
          </a:xfrm>
          <a:custGeom>
            <a:rect b="b" l="l" r="r" t="t"/>
            <a:pathLst>
              <a:path extrusionOk="0" h="845964" w="3441211">
                <a:moveTo>
                  <a:pt x="0" y="0"/>
                </a:moveTo>
                <a:lnTo>
                  <a:pt x="3441211" y="0"/>
                </a:lnTo>
                <a:lnTo>
                  <a:pt x="3441211" y="845964"/>
                </a:lnTo>
                <a:lnTo>
                  <a:pt x="0" y="8459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"/>
          <p:cNvSpPr/>
          <p:nvPr/>
        </p:nvSpPr>
        <p:spPr>
          <a:xfrm>
            <a:off x="762700" y="1451675"/>
            <a:ext cx="16715314" cy="9058080"/>
          </a:xfrm>
          <a:custGeom>
            <a:rect b="b" l="l" r="r" t="t"/>
            <a:pathLst>
              <a:path extrusionOk="0" h="9314221" w="16549816">
                <a:moveTo>
                  <a:pt x="0" y="0"/>
                </a:moveTo>
                <a:lnTo>
                  <a:pt x="16549816" y="0"/>
                </a:lnTo>
                <a:lnTo>
                  <a:pt x="16549816" y="9314221"/>
                </a:lnTo>
                <a:lnTo>
                  <a:pt x="0" y="9314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7" name="Google Shape;227;p9"/>
          <p:cNvSpPr txBox="1"/>
          <p:nvPr/>
        </p:nvSpPr>
        <p:spPr>
          <a:xfrm>
            <a:off x="14292804" y="10021998"/>
            <a:ext cx="3995196" cy="265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82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6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9/10</a:t>
            </a:r>
            <a:endParaRPr/>
          </a:p>
        </p:txBody>
      </p:sp>
      <p:sp>
        <p:nvSpPr>
          <p:cNvPr id="228" name="Google Shape;228;p9"/>
          <p:cNvSpPr txBox="1"/>
          <p:nvPr/>
        </p:nvSpPr>
        <p:spPr>
          <a:xfrm>
            <a:off x="5608049" y="434438"/>
            <a:ext cx="7071900" cy="9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19" u="none" cap="none" strike="noStrike">
                <a:solidFill>
                  <a:srgbClr val="6F8CF3"/>
                </a:solidFill>
                <a:latin typeface="Arial"/>
                <a:ea typeface="Arial"/>
                <a:cs typeface="Arial"/>
                <a:sym typeface="Arial"/>
              </a:rPr>
              <a:t>CRONOGRAMA</a:t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951503" y="704821"/>
            <a:ext cx="413096" cy="360426"/>
          </a:xfrm>
          <a:custGeom>
            <a:rect b="b" l="l" r="r" t="t"/>
            <a:pathLst>
              <a:path extrusionOk="0" h="360426" w="413096">
                <a:moveTo>
                  <a:pt x="0" y="0"/>
                </a:moveTo>
                <a:lnTo>
                  <a:pt x="413096" y="0"/>
                </a:lnTo>
                <a:lnTo>
                  <a:pt x="413096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0" name="Google Shape;230;p9"/>
          <p:cNvSpPr/>
          <p:nvPr/>
        </p:nvSpPr>
        <p:spPr>
          <a:xfrm>
            <a:off x="1581462" y="704821"/>
            <a:ext cx="396617" cy="360426"/>
          </a:xfrm>
          <a:custGeom>
            <a:rect b="b" l="l" r="r" t="t"/>
            <a:pathLst>
              <a:path extrusionOk="0" h="360426" w="396617">
                <a:moveTo>
                  <a:pt x="0" y="0"/>
                </a:moveTo>
                <a:lnTo>
                  <a:pt x="396617" y="0"/>
                </a:lnTo>
                <a:lnTo>
                  <a:pt x="396617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1" name="Google Shape;231;p9"/>
          <p:cNvSpPr/>
          <p:nvPr/>
        </p:nvSpPr>
        <p:spPr>
          <a:xfrm>
            <a:off x="14624885" y="605718"/>
            <a:ext cx="3441211" cy="845964"/>
          </a:xfrm>
          <a:custGeom>
            <a:rect b="b" l="l" r="r" t="t"/>
            <a:pathLst>
              <a:path extrusionOk="0" h="845964" w="3441211">
                <a:moveTo>
                  <a:pt x="0" y="0"/>
                </a:moveTo>
                <a:lnTo>
                  <a:pt x="3441211" y="0"/>
                </a:lnTo>
                <a:lnTo>
                  <a:pt x="3441211" y="845964"/>
                </a:lnTo>
                <a:lnTo>
                  <a:pt x="0" y="8459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E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6" name="Google Shape;236;p10"/>
          <p:cNvCxnSpPr/>
          <p:nvPr/>
        </p:nvCxnSpPr>
        <p:spPr>
          <a:xfrm>
            <a:off x="8219854" y="9078087"/>
            <a:ext cx="1848291" cy="0"/>
          </a:xfrm>
          <a:prstGeom prst="straightConnector1">
            <a:avLst/>
          </a:prstGeom>
          <a:noFill/>
          <a:ln cap="flat" cmpd="sng" w="38100">
            <a:solidFill>
              <a:srgbClr val="22335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37" name="Google Shape;237;p10"/>
          <p:cNvSpPr/>
          <p:nvPr/>
        </p:nvSpPr>
        <p:spPr>
          <a:xfrm>
            <a:off x="2662" y="5452100"/>
            <a:ext cx="9138683" cy="4834890"/>
          </a:xfrm>
          <a:custGeom>
            <a:rect b="b" l="l" r="r" t="t"/>
            <a:pathLst>
              <a:path extrusionOk="0" h="5143500" w="9569302">
                <a:moveTo>
                  <a:pt x="0" y="0"/>
                </a:moveTo>
                <a:lnTo>
                  <a:pt x="9569302" y="0"/>
                </a:lnTo>
                <a:lnTo>
                  <a:pt x="9569302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8" name="Google Shape;238;p10"/>
          <p:cNvSpPr/>
          <p:nvPr/>
        </p:nvSpPr>
        <p:spPr>
          <a:xfrm>
            <a:off x="1028700" y="1028700"/>
            <a:ext cx="413096" cy="360426"/>
          </a:xfrm>
          <a:custGeom>
            <a:rect b="b" l="l" r="r" t="t"/>
            <a:pathLst>
              <a:path extrusionOk="0" h="360426" w="413096">
                <a:moveTo>
                  <a:pt x="0" y="0"/>
                </a:moveTo>
                <a:lnTo>
                  <a:pt x="413096" y="0"/>
                </a:lnTo>
                <a:lnTo>
                  <a:pt x="413096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9" name="Google Shape;239;p10"/>
          <p:cNvSpPr/>
          <p:nvPr/>
        </p:nvSpPr>
        <p:spPr>
          <a:xfrm>
            <a:off x="1658659" y="1028700"/>
            <a:ext cx="396617" cy="360426"/>
          </a:xfrm>
          <a:custGeom>
            <a:rect b="b" l="l" r="r" t="t"/>
            <a:pathLst>
              <a:path extrusionOk="0" h="360426" w="396617">
                <a:moveTo>
                  <a:pt x="0" y="0"/>
                </a:moveTo>
                <a:lnTo>
                  <a:pt x="396617" y="0"/>
                </a:lnTo>
                <a:lnTo>
                  <a:pt x="396617" y="360426"/>
                </a:lnTo>
                <a:lnTo>
                  <a:pt x="0" y="3604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0" name="Google Shape;240;p10"/>
          <p:cNvSpPr txBox="1"/>
          <p:nvPr/>
        </p:nvSpPr>
        <p:spPr>
          <a:xfrm>
            <a:off x="14292804" y="10021824"/>
            <a:ext cx="3995196" cy="265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82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10/10</a:t>
            </a:r>
            <a:endParaRPr/>
          </a:p>
        </p:txBody>
      </p:sp>
      <p:sp>
        <p:nvSpPr>
          <p:cNvPr id="241" name="Google Shape;241;p10"/>
          <p:cNvSpPr txBox="1"/>
          <p:nvPr/>
        </p:nvSpPr>
        <p:spPr>
          <a:xfrm>
            <a:off x="907184" y="2581911"/>
            <a:ext cx="9809219" cy="9899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99" u="none" cap="none" strike="noStrike">
                <a:solidFill>
                  <a:srgbClr val="6F8CF3"/>
                </a:solidFill>
                <a:latin typeface="Arial"/>
                <a:ea typeface="Arial"/>
                <a:cs typeface="Arial"/>
                <a:sym typeface="Arial"/>
              </a:rPr>
              <a:t>COMENTARIOS</a:t>
            </a:r>
            <a:endParaRPr/>
          </a:p>
        </p:txBody>
      </p:sp>
      <p:sp>
        <p:nvSpPr>
          <p:cNvPr id="242" name="Google Shape;242;p10"/>
          <p:cNvSpPr txBox="1"/>
          <p:nvPr/>
        </p:nvSpPr>
        <p:spPr>
          <a:xfrm>
            <a:off x="10226857" y="4343300"/>
            <a:ext cx="7032443" cy="337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1693" lvl="1" marL="443385" marR="0" rtl="0" algn="l">
              <a:lnSpc>
                <a:spcPct val="120019"/>
              </a:lnSpc>
              <a:spcBef>
                <a:spcPts val="0"/>
              </a:spcBef>
              <a:spcAft>
                <a:spcPts val="0"/>
              </a:spcAft>
              <a:buClr>
                <a:srgbClr val="22335A"/>
              </a:buClr>
              <a:buSzPts val="2053"/>
              <a:buFont typeface="Arial"/>
              <a:buChar char="•"/>
            </a:pPr>
            <a:r>
              <a:rPr b="0" i="0" lang="en-US" sz="2053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Un proceso trazable protege también al establecimiento y a quien toma las decisiones</a:t>
            </a:r>
            <a:endParaRPr/>
          </a:p>
          <a:p>
            <a:pPr indent="0" lvl="0" marL="0" marR="0" rtl="0" algn="l">
              <a:lnSpc>
                <a:spcPct val="12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53" u="none" cap="none" strike="noStrike">
              <a:solidFill>
                <a:srgbClr val="22335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1693" lvl="1" marL="443385" marR="0" rtl="0" algn="l">
              <a:lnSpc>
                <a:spcPct val="120019"/>
              </a:lnSpc>
              <a:spcBef>
                <a:spcPts val="0"/>
              </a:spcBef>
              <a:spcAft>
                <a:spcPts val="0"/>
              </a:spcAft>
              <a:buClr>
                <a:srgbClr val="22335A"/>
              </a:buClr>
              <a:buSzPts val="2053"/>
              <a:buFont typeface="Arial"/>
              <a:buChar char="•"/>
            </a:pPr>
            <a:r>
              <a:rPr b="0" i="0" lang="en-US" sz="2053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El valor de Convi está en ordenar un proceso hoy disperso, no en tener IA</a:t>
            </a:r>
            <a:endParaRPr/>
          </a:p>
          <a:p>
            <a:pPr indent="0" lvl="0" marL="0" marR="0" rtl="0" algn="l">
              <a:lnSpc>
                <a:spcPct val="12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53" u="none" cap="none" strike="noStrike">
              <a:solidFill>
                <a:srgbClr val="22335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1693" lvl="1" marL="443385" marR="0" rtl="0" algn="l">
              <a:lnSpc>
                <a:spcPct val="120019"/>
              </a:lnSpc>
              <a:spcBef>
                <a:spcPts val="0"/>
              </a:spcBef>
              <a:spcAft>
                <a:spcPts val="0"/>
              </a:spcAft>
              <a:buClr>
                <a:srgbClr val="22335A"/>
              </a:buClr>
              <a:buSzPts val="2053"/>
              <a:buFont typeface="Arial"/>
              <a:buChar char="•"/>
            </a:pPr>
            <a:r>
              <a:rPr b="0" i="0" lang="en-US" sz="2053" u="none" cap="none" strike="noStrike">
                <a:solidFill>
                  <a:srgbClr val="22335A"/>
                </a:solidFill>
                <a:latin typeface="Montserrat"/>
                <a:ea typeface="Montserrat"/>
                <a:cs typeface="Montserrat"/>
                <a:sym typeface="Montserrat"/>
              </a:rPr>
              <a:t>Las notificaciones se sustentan en reglas objetivas, verificables y explicables</a:t>
            </a:r>
            <a:endParaRPr/>
          </a:p>
          <a:p>
            <a:pPr indent="0" lvl="0" marL="0" marR="0" rtl="0" algn="l">
              <a:lnSpc>
                <a:spcPct val="114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53" u="none" cap="none" strike="noStrike">
              <a:solidFill>
                <a:srgbClr val="22335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2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53" u="none" cap="none" strike="noStrike">
              <a:solidFill>
                <a:srgbClr val="22335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14624885" y="605718"/>
            <a:ext cx="3441211" cy="845964"/>
          </a:xfrm>
          <a:custGeom>
            <a:rect b="b" l="l" r="r" t="t"/>
            <a:pathLst>
              <a:path extrusionOk="0" h="845964" w="3441211">
                <a:moveTo>
                  <a:pt x="0" y="0"/>
                </a:moveTo>
                <a:lnTo>
                  <a:pt x="3441211" y="0"/>
                </a:lnTo>
                <a:lnTo>
                  <a:pt x="3441211" y="845964"/>
                </a:lnTo>
                <a:lnTo>
                  <a:pt x="0" y="8459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